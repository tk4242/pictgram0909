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charts/colors10.xml" ContentType="application/vnd.ms-office.chartcolorstyle+xml"/>
  <Override PartName="/ppt/charts/colors8.xml" ContentType="application/vnd.ms-office.chartcolorstyle+xml"/>
  <Override PartName="/ppt/charts/style10.xml" ContentType="application/vnd.ms-office.chartstyle+xml"/>
  <Override PartName="/ppt/charts/style8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64.xml" ContentType="application/vnd.openxmlformats-officedocument.presentationml.notesSlide+xml"/>
  <Override PartName="/ppt/notesSlides/notesSlide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15.xml" ContentType="application/vnd.openxmlformats-officedocument.presentationml.slide+xml"/>
  <Override PartName="/ppt/slides/slide12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919" r:id="rId1"/>
    <p:sldMasterId id="2147483980" r:id="rId2"/>
    <p:sldMasterId id="2147483994" r:id="rId3"/>
    <p:sldMasterId id="2147484009" r:id="rId4"/>
    <p:sldMasterId id="2147484024" r:id="rId5"/>
    <p:sldMasterId id="2147484039" r:id="rId6"/>
    <p:sldMasterId id="2147484053" r:id="rId7"/>
    <p:sldMasterId id="2147484067" r:id="rId8"/>
    <p:sldMasterId id="2147484081" r:id="rId9"/>
    <p:sldMasterId id="2147484095" r:id="rId10"/>
    <p:sldMasterId id="2147484109" r:id="rId11"/>
    <p:sldMasterId id="2147484123" r:id="rId12"/>
    <p:sldMasterId id="2147484138" r:id="rId13"/>
    <p:sldMasterId id="2147484153" r:id="rId14"/>
    <p:sldMasterId id="2147484167" r:id="rId15"/>
  </p:sldMasterIdLst>
  <p:notesMasterIdLst>
    <p:notesMasterId r:id="rId149"/>
  </p:notesMasterIdLst>
  <p:handoutMasterIdLst>
    <p:handoutMasterId r:id="rId150"/>
  </p:handoutMasterIdLst>
  <p:sldIdLst>
    <p:sldId id="1118" r:id="rId136"/>
    <p:sldId id="1111" r:id="rId130"/>
  </p:sldIdLst>
  <p:sldSz cx="9906000" cy="6858000" type="A4"/>
  <p:notesSz cx="6888163" cy="10020300"/>
  <p:custDataLst>
    <p:tags r:id="rId15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3" orient="horz" pos="25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51B"/>
    <a:srgbClr val="004CA0"/>
    <a:srgbClr val="1E49E3"/>
    <a:srgbClr val="F6CF13"/>
    <a:srgbClr val="60D9FF"/>
    <a:srgbClr val="2A49E3"/>
    <a:srgbClr val="66CFEA"/>
    <a:srgbClr val="FFB1DB"/>
    <a:srgbClr val="E9628E"/>
    <a:srgbClr val="FF8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32" autoAdjust="0"/>
    <p:restoredTop sz="95982" autoAdjust="0"/>
  </p:normalViewPr>
  <p:slideViewPr>
    <p:cSldViewPr showGuides="1">
      <p:cViewPr varScale="1">
        <p:scale>
          <a:sx n="93" d="100"/>
          <a:sy n="93" d="100"/>
        </p:scale>
        <p:origin x="1288" y="504"/>
      </p:cViewPr>
      <p:guideLst>
        <p:guide pos="3120"/>
        <p:guide orient="horz" pos="2523"/>
      </p:guideLst>
    </p:cSldViewPr>
  </p:slideViewPr>
  <p:outlineViewPr>
    <p:cViewPr>
      <p:scale>
        <a:sx n="33" d="100"/>
        <a:sy n="33" d="100"/>
      </p:scale>
      <p:origin x="0" y="-13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30" Type="http://schemas.openxmlformats.org/officeDocument/2006/relationships/slide" Target="slides/slide115.xml"/><Relationship Id="rId136" Type="http://schemas.openxmlformats.org/officeDocument/2006/relationships/slide" Target="slides/slide121.xml"/><Relationship Id="rId149" Type="http://schemas.openxmlformats.org/officeDocument/2006/relationships/notesMaster" Target="notesMasters/notesMaster1.xml"/><Relationship Id="rId150" Type="http://schemas.openxmlformats.org/officeDocument/2006/relationships/handoutMaster" Target="handoutMasters/handoutMaster1.xml"/><Relationship Id="rId151" Type="http://schemas.openxmlformats.org/officeDocument/2006/relationships/tags" Target="tags/tag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______12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______14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店舗数</c:v>
                </c:pt>
              </c:strCache>
            </c:strRef>
          </c:tx>
          <c:spPr>
            <a:solidFill>
              <a:srgbClr val="004CA0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1400">
                    <a:latin typeface="Meiryo UI"/>
                    <a:ea typeface="Meiryo UI"/>
                    <a:cs typeface="Meiryo UI"/>
                  </a:defRPr>
                </a:pPr>
                <a:endParaRPr lang="ja-JP">
                  <a:latin typeface="Meiryo UI"/>
                  <a:ea typeface="Meiryo UI"/>
                  <a:cs typeface="Meiryo UI"/>
                </a:endParaR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ユニクロ</c:v>
                </c:pt>
                <c:pt idx="1">
                  <c:v>無印良品</c:v>
                </c:pt>
                <c:pt idx="2">
                  <c:v>ABCマート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32</c:v>
                </c:pt>
                <c:pt idx="1">
                  <c:v>19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B8-5848-83F7-814FCC510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"/>
        <c:overlap val="-27"/>
        <c:axId val="2072058431"/>
        <c:axId val="97533248"/>
      </c:barChart>
      <c:catAx>
        <c:axId val="20720584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/>
          <a:lstStyle/>
          <a:p>
            <a:pPr>
              <a:defRPr sz="1400">
                <a:latin typeface="Meiryo UI"/>
                <a:ea typeface="Meiryo UI"/>
                <a:cs typeface="Meiryo UI"/>
              </a:defRPr>
            </a:pPr>
            <a:endParaRPr lang="ja-JP">
              <a:latin typeface="Meiryo UI"/>
              <a:ea typeface="Meiryo UI"/>
              <a:cs typeface="Meiryo UI"/>
            </a:endParaRPr>
          </a:p>
        </c:txPr>
        <c:crossAx val="97533248"/>
        <c:crosses val="autoZero"/>
        <c:auto val="1"/>
        <c:lblAlgn val="ctr"/>
        <c:lblOffset val="100"/>
        <c:tickLblSkip val="1"/>
        <c:noMultiLvlLbl val="0"/>
      </c:catAx>
      <c:valAx>
        <c:axId val="97533248"/>
        <c:scaling>
          <c:orientation val="minMax"/>
        </c:scaling>
        <c:delete val="0"/>
        <c:axPos val="l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/>
          <a:lstStyle/>
          <a:p>
            <a:pPr>
              <a:defRPr sz="1400">
                <a:latin typeface="Meiryo UI"/>
                <a:ea typeface="Meiryo UI"/>
                <a:cs typeface="Meiryo UI"/>
              </a:defRPr>
            </a:pPr>
            <a:endParaRPr lang="ja-JP">
              <a:latin typeface="Meiryo UI"/>
              <a:ea typeface="Meiryo UI"/>
              <a:cs typeface="Meiryo UI"/>
            </a:endParaRPr>
          </a:p>
        </c:txPr>
        <c:crossAx val="207205843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eiryo UI"/>
          <a:ea typeface="Meiryo UI"/>
          <a:cs typeface="Meiryo UI"/>
        </a:defRPr>
      </a:pPr>
      <a:endParaRPr lang="ja-JP">
        <a:latin typeface="Meiryo UI"/>
        <a:ea typeface="Meiryo UI"/>
        <a:cs typeface="Meiryo UI"/>
      </a:endParaRPr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店舗数</c:v>
                </c:pt>
              </c:strCache>
            </c:strRef>
          </c:tx>
          <c:spPr>
            <a:solidFill>
              <a:srgbClr val="004CA0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1400">
                    <a:latin typeface="Meiryo UI"/>
                    <a:ea typeface="Meiryo UI"/>
                    <a:cs typeface="Meiryo UI"/>
                  </a:defRPr>
                </a:pPr>
                <a:endParaRPr lang="ja-JP">
                  <a:latin typeface="Meiryo UI"/>
                  <a:ea typeface="Meiryo UI"/>
                  <a:cs typeface="Meiryo UI"/>
                </a:endParaR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フィリピン</c:v>
                </c:pt>
                <c:pt idx="1">
                  <c:v>米国</c:v>
                </c:pt>
                <c:pt idx="2">
                  <c:v>ベトナム</c:v>
                </c:pt>
                <c:pt idx="3">
                  <c:v>台湾</c:v>
                </c:pt>
                <c:pt idx="4">
                  <c:v>韓国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2</c:v>
                </c:pt>
                <c:pt idx="1">
                  <c:v>7</c:v>
                </c:pt>
                <c:pt idx="2">
                  <c:v>4</c:v>
                </c:pt>
                <c:pt idx="3">
                  <c:v>63</c:v>
                </c:pt>
                <c:pt idx="4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17-574F-83B7-971BF8C4B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axId val="2072058431"/>
        <c:axId val="97533248"/>
      </c:barChart>
      <c:catAx>
        <c:axId val="207205843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/>
          <a:lstStyle/>
          <a:p>
            <a:pPr>
              <a:defRPr sz="1400">
                <a:latin typeface="Meiryo UI"/>
                <a:ea typeface="Meiryo UI"/>
                <a:cs typeface="Meiryo UI"/>
              </a:defRPr>
            </a:pPr>
            <a:endParaRPr lang="ja-JP">
              <a:latin typeface="Meiryo UI"/>
              <a:ea typeface="Meiryo UI"/>
              <a:cs typeface="Meiryo UI"/>
            </a:endParaRPr>
          </a:p>
        </c:txPr>
        <c:crossAx val="97533248"/>
        <c:crosses val="autoZero"/>
        <c:auto val="1"/>
        <c:lblAlgn val="ctr"/>
        <c:lblOffset val="100"/>
        <c:tickLblSkip val="1"/>
        <c:noMultiLvlLbl val="0"/>
      </c:catAx>
      <c:valAx>
        <c:axId val="97533248"/>
        <c:scaling>
          <c:orientation val="minMax"/>
        </c:scaling>
        <c:delete val="0"/>
        <c:axPos val="t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/>
          <a:lstStyle/>
          <a:p>
            <a:pPr>
              <a:defRPr sz="1400">
                <a:latin typeface="Meiryo UI"/>
                <a:ea typeface="Meiryo UI"/>
                <a:cs typeface="Meiryo UI"/>
              </a:defRPr>
            </a:pPr>
            <a:endParaRPr lang="ja-JP">
              <a:latin typeface="Meiryo UI"/>
              <a:ea typeface="Meiryo UI"/>
              <a:cs typeface="Meiryo UI"/>
            </a:endParaRPr>
          </a:p>
        </c:txPr>
        <c:crossAx val="207205843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eiryo UI"/>
          <a:ea typeface="Meiryo UI"/>
          <a:cs typeface="Meiryo UI"/>
        </a:defRPr>
      </a:pPr>
      <a:endParaRPr lang="ja-JP">
        <a:latin typeface="Meiryo UI"/>
        <a:ea typeface="Meiryo UI"/>
        <a:cs typeface="Meiryo UI"/>
      </a:endParaRPr>
    </a:p>
  </c:txPr>
  <c:externalData r:id="rId3">
    <c:autoUpdate val="0"/>
  </c:externalData>
</c:chartSpac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C4373A1-FE00-4733-AF9A-71E0E334C2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023D47-A391-4A95-884A-590035A579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E4F45-61BE-46AC-A79C-86A286B076D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FEAEB3-AA86-4E8A-BD5A-DC336DBFB4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1D313C-199E-4A6C-AAA8-CB175A73C0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F5827-3B4A-4E94-916B-1762E9E5C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82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466" cy="503030"/>
          </a:xfrm>
          <a:prstGeom prst="rect">
            <a:avLst/>
          </a:prstGeom>
        </p:spPr>
        <p:txBody>
          <a:bodyPr vert="horz" lIns="93122" tIns="46561" rIns="93122" bIns="46561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1074" y="0"/>
            <a:ext cx="2985465" cy="503030"/>
          </a:xfrm>
          <a:prstGeom prst="rect">
            <a:avLst/>
          </a:prstGeom>
        </p:spPr>
        <p:txBody>
          <a:bodyPr vert="horz" lIns="93122" tIns="46561" rIns="93122" bIns="46561" rtlCol="0"/>
          <a:lstStyle>
            <a:lvl1pPr algn="r">
              <a:defRPr sz="1200"/>
            </a:lvl1pPr>
          </a:lstStyle>
          <a:p>
            <a:fld id="{AAE2C4BB-DD5D-4EF0-8811-52820987454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473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2" tIns="46561" rIns="93122" bIns="46561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330" y="4822320"/>
            <a:ext cx="5511505" cy="3945240"/>
          </a:xfrm>
          <a:prstGeom prst="rect">
            <a:avLst/>
          </a:prstGeom>
        </p:spPr>
        <p:txBody>
          <a:bodyPr vert="horz" lIns="93122" tIns="46561" rIns="93122" bIns="46561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7270"/>
            <a:ext cx="2985466" cy="503030"/>
          </a:xfrm>
          <a:prstGeom prst="rect">
            <a:avLst/>
          </a:prstGeom>
        </p:spPr>
        <p:txBody>
          <a:bodyPr vert="horz" lIns="93122" tIns="46561" rIns="93122" bIns="46561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1074" y="9517270"/>
            <a:ext cx="2985465" cy="503030"/>
          </a:xfrm>
          <a:prstGeom prst="rect">
            <a:avLst/>
          </a:prstGeom>
        </p:spPr>
        <p:txBody>
          <a:bodyPr vert="horz" lIns="93122" tIns="46561" rIns="93122" bIns="46561" rtlCol="0" anchor="b"/>
          <a:lstStyle>
            <a:lvl1pPr algn="r">
              <a:defRPr sz="1200"/>
            </a:lvl1pPr>
          </a:lstStyle>
          <a:p>
            <a:fld id="{24DE13BB-FCB6-4491-A87D-1E9BA7500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B765-C0C7-2774-70EB-72AB219BF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3A3EB9B-5999-A51D-9FB3-5BAA102BF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4BE8CA-A396-CD39-302B-9A0443D76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DDE51A-C776-9263-0988-C5DAC60F3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E13BB-FCB6-4491-A87D-1E9BA7500F8E}" type="slidenum">
              <a:rPr kumimoji="1" lang="ja-JP" altLang="en-US" smtClean="0"/>
              <a:t>115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23960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C4DB-5825-F599-23AC-0DE8EB98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28FEDD-8D62-3898-0751-C45825124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B00A78-18EF-5FE6-6262-A9E140780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AB057F-0EC6-FC34-A560-0934A3C1F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E13BB-FCB6-4491-A87D-1E9BA7500F8E}" type="slidenum">
              <a:rPr kumimoji="1" lang="ja-JP" altLang="en-US" smtClean="0"/>
              <a:t>121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4580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ogo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8051489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8" imgH="528" progId="TCLayout.ActiveDocument.1">
                  <p:embed/>
                </p:oleObj>
              </mc:Choice>
              <mc:Fallback>
                <p:oleObj name="think-cell Slide" r:id="rId3" imgW="528" imgH="52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000" y="2564904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15925" y="1478314"/>
            <a:ext cx="4536000" cy="620000"/>
          </a:xfrm>
          <a:prstGeom prst="rect">
            <a:avLst/>
          </a:prstGeom>
        </p:spPr>
        <p:txBody>
          <a:bodyPr l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200" b="1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 dirty="0"/>
              <a:t>クライアント社名</a:t>
            </a:r>
          </a:p>
        </p:txBody>
      </p:sp>
    </p:spTree>
    <p:extLst>
      <p:ext uri="{BB962C8B-B14F-4D97-AF65-F5344CB8AC3E}">
        <p14:creationId xmlns:p14="http://schemas.microsoft.com/office/powerpoint/2010/main" val="30149723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本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7592267-AFE0-48A2-BD7B-22929B4C73D1}"/>
              </a:ext>
            </a:extLst>
          </p:cNvPr>
          <p:cNvSpPr/>
          <p:nvPr userDrawn="1"/>
        </p:nvSpPr>
        <p:spPr bwMode="gray">
          <a:xfrm>
            <a:off x="422636" y="1"/>
            <a:ext cx="4098316" cy="302113"/>
          </a:xfrm>
          <a:prstGeom prst="rect">
            <a:avLst/>
          </a:prstGeom>
          <a:solidFill>
            <a:srgbClr val="004CA0"/>
          </a:solidFill>
          <a:ln w="12700" algn="ctr">
            <a:solidFill>
              <a:srgbClr val="004CA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buFont typeface="Wingdings 2" pitchFamily="18" charset="2"/>
              <a:buNone/>
            </a:pPr>
            <a:endParaRPr kumimoji="1" lang="ja-JP" altLang="en-US" sz="1200" dirty="0"/>
          </a:p>
        </p:txBody>
      </p:sp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755061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8" imgH="528" progId="TCLayout.ActiveDocument.1">
                  <p:embed/>
                </p:oleObj>
              </mc:Choice>
              <mc:Fallback>
                <p:oleObj name="think-cell Slide" r:id="rId3" imgW="528" imgH="52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テキスト プレースホルダー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52784"/>
            <a:ext cx="4356000" cy="432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rgbClr val="004CA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03E82513-8600-49E3-AB39-BE0B195275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925" y="44624"/>
            <a:ext cx="7705427" cy="240701"/>
          </a:xfrm>
        </p:spPr>
        <p:txBody>
          <a:bodyPr lIns="108000">
            <a:noAutofit/>
          </a:bodyPr>
          <a:lstStyle>
            <a:lvl1pPr>
              <a:defRPr sz="1400" b="1" u="none">
                <a:solidFill>
                  <a:schemeClr val="bg1"/>
                </a:solidFill>
                <a:latin typeface="+mj-ea"/>
                <a:ea typeface="+mj-ea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kumimoji="1" lang="ja-JP" altLang="en-US" dirty="0"/>
              <a:t>スライドタイトル（フォント：</a:t>
            </a:r>
            <a:r>
              <a:rPr kumimoji="1" lang="en-US" altLang="ja-JP" dirty="0"/>
              <a:t>MS P</a:t>
            </a:r>
            <a:r>
              <a:rPr kumimoji="1" lang="ja-JP" altLang="en-US" dirty="0"/>
              <a:t>ゴシック、サイズ</a:t>
            </a:r>
            <a:r>
              <a:rPr kumimoji="1" lang="en-US" altLang="ja-JP" dirty="0"/>
              <a:t>:20</a:t>
            </a:r>
            <a:endParaRPr kumimoji="1" lang="ja-JP" altLang="en-US" dirty="0"/>
          </a:p>
        </p:txBody>
      </p:sp>
      <p:sp>
        <p:nvSpPr>
          <p:cNvPr id="13" name="テキスト プレースホルダー 9">
            <a:extLst>
              <a:ext uri="{FF2B5EF4-FFF2-40B4-BE49-F238E27FC236}">
                <a16:creationId xmlns:a16="http://schemas.microsoft.com/office/drawing/2014/main" id="{9F3A6958-77CB-46B7-9BE1-98CA61BAB2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925" y="6308725"/>
            <a:ext cx="9072000" cy="288925"/>
          </a:xfrm>
        </p:spPr>
        <p:txBody>
          <a:bodyPr anchor="ctr">
            <a:normAutofit/>
          </a:bodyPr>
          <a:lstStyle>
            <a:lvl1pPr>
              <a:defRPr sz="1050" b="0" u="none"/>
            </a:lvl1pPr>
            <a:lvl2pPr marL="0" indent="0">
              <a:buNone/>
              <a:defRPr/>
            </a:lvl2pPr>
          </a:lstStyle>
          <a:p>
            <a:pPr lvl="0"/>
            <a:r>
              <a:rPr kumimoji="1" lang="ja-JP" altLang="en-US" dirty="0"/>
              <a:t>出所：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422636" y="337486"/>
            <a:ext cx="9082743" cy="666252"/>
          </a:xfrm>
          <a:noFill/>
          <a:ln>
            <a:noFill/>
          </a:ln>
        </p:spPr>
        <p:txBody>
          <a:bodyPr lIns="108000"/>
          <a:lstStyle>
            <a:lvl1pPr>
              <a:defRPr sz="1800" b="1" u="none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キーメッセージは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行以内（フォント：</a:t>
            </a:r>
            <a:r>
              <a:rPr kumimoji="1" lang="en-US" altLang="ja-JP" dirty="0"/>
              <a:t>MS P</a:t>
            </a:r>
            <a:r>
              <a:rPr kumimoji="1" lang="ja-JP" altLang="en-US" dirty="0"/>
              <a:t>ゴシック、サイズ：</a:t>
            </a:r>
            <a:r>
              <a:rPr kumimoji="1" lang="en-US" altLang="ja-JP" dirty="0"/>
              <a:t>18</a:t>
            </a:r>
            <a:r>
              <a:rPr kumimoji="1" lang="ja-JP" altLang="en-US" dirty="0"/>
              <a:t>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DDB4C1-4417-4C78-93DE-58AB1D267C10}"/>
              </a:ext>
            </a:extLst>
          </p:cNvPr>
          <p:cNvSpPr/>
          <p:nvPr userDrawn="1"/>
        </p:nvSpPr>
        <p:spPr bwMode="gray">
          <a:xfrm>
            <a:off x="5388143" y="6777038"/>
            <a:ext cx="4098316" cy="80962"/>
          </a:xfrm>
          <a:prstGeom prst="rect">
            <a:avLst/>
          </a:prstGeom>
          <a:solidFill>
            <a:srgbClr val="004CA0"/>
          </a:solidFill>
          <a:ln w="12700" algn="ctr">
            <a:solidFill>
              <a:srgbClr val="004CA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buFont typeface="Wingdings 2" pitchFamily="18" charset="2"/>
              <a:buNone/>
            </a:pP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2110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オブジェクト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417000" y="136800"/>
            <a:ext cx="9072000" cy="651600"/>
          </a:xfrm>
        </p:spPr>
        <p:txBody>
          <a:bodyPr/>
          <a:lstStyle/>
          <a:p>
            <a:r>
              <a:rPr kumimoji="1" lang="ja-JP" altLang="en-US"/>
              <a:t>キーメッセージを入力（本スライドで一番伝えたいこと＜名詞止め・体言止め不可＞）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テキストブロック</a:t>
            </a:r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>
          <a:xfrm>
            <a:off x="416496" y="1016000"/>
            <a:ext cx="4320000" cy="432000"/>
          </a:xfrm>
        </p:spPr>
        <p:txBody>
          <a:bodyPr wrap="none" anchor="ctr">
            <a:noAutofit/>
          </a:bodyPr>
          <a:lstStyle>
            <a:lvl1pPr>
              <a:defRPr sz="1292"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289975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（基本版） コンテンツ全面_レベル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7000" y="1476000"/>
            <a:ext cx="9072000" cy="4824000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 sz="1200" baseline="0">
                <a:latin typeface="Arial" pitchFamily="34" charset="0"/>
                <a:ea typeface="+mn-ea"/>
                <a:cs typeface="Arial" pitchFamily="34" charset="0"/>
              </a:defRPr>
            </a:lvl1pPr>
            <a:lvl2pPr marL="172800" indent="-172800">
              <a:lnSpc>
                <a:spcPct val="106000"/>
              </a:lnSpc>
              <a:spcBef>
                <a:spcPts val="1056"/>
              </a:spcBef>
              <a:buFont typeface="Wingdings" pitchFamily="2" charset="2"/>
              <a:buChar char="n"/>
              <a:defRPr sz="1200" baseline="0">
                <a:latin typeface="Arial" pitchFamily="34" charset="0"/>
                <a:ea typeface="+mn-ea"/>
                <a:cs typeface="Arial" pitchFamily="34" charset="0"/>
              </a:defRPr>
            </a:lvl2pPr>
            <a:lvl3pPr marL="345600" indent="-172800">
              <a:lnSpc>
                <a:spcPct val="106000"/>
              </a:lnSpc>
              <a:spcBef>
                <a:spcPts val="480"/>
              </a:spcBef>
              <a:buFont typeface="Wingdings" pitchFamily="2" charset="2"/>
              <a:buChar char="Ø"/>
              <a:defRPr sz="1200" baseline="0">
                <a:latin typeface="Arial" pitchFamily="34" charset="0"/>
                <a:ea typeface="+mn-ea"/>
                <a:cs typeface="Arial" pitchFamily="34" charset="0"/>
              </a:defRPr>
            </a:lvl3pPr>
            <a:lvl4pPr marL="518400" indent="-172800">
              <a:lnSpc>
                <a:spcPct val="106000"/>
              </a:lnSpc>
              <a:spcBef>
                <a:spcPts val="240"/>
              </a:spcBef>
              <a:buFont typeface="Arial" pitchFamily="34" charset="0"/>
              <a:buChar char="•"/>
              <a:defRPr sz="1200" baseline="0">
                <a:latin typeface="Arial" pitchFamily="34" charset="0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1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A0986-838B-4D2A-A95C-8CB1738263F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テキストブロック</a:t>
            </a:r>
            <a:endParaRPr lang="en-GB" altLang="en-GB" dirty="0"/>
          </a:p>
        </p:txBody>
      </p:sp>
      <p:sp>
        <p:nvSpPr>
          <p:cNvPr id="8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016000"/>
            <a:ext cx="4356000" cy="432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 hasCustomPrompt="1"/>
          </p:nvPr>
        </p:nvSpPr>
        <p:spPr bwMode="gray">
          <a:xfrm>
            <a:off x="417000" y="136800"/>
            <a:ext cx="9072000" cy="651600"/>
          </a:xfrm>
        </p:spPr>
        <p:txBody>
          <a:bodyPr/>
          <a:lstStyle/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2859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テキストブロック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本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755061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8" imgH="528" progId="TCLayout.ActiveDocument.1">
                  <p:embed/>
                </p:oleObj>
              </mc:Choice>
              <mc:Fallback>
                <p:oleObj name="think-cell Slide" r:id="rId3" imgW="528" imgH="52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テキスト プレースホルダー 9">
            <a:extLst>
              <a:ext uri="{FF2B5EF4-FFF2-40B4-BE49-F238E27FC236}">
                <a16:creationId xmlns:a16="http://schemas.microsoft.com/office/drawing/2014/main" id="{9F3A6958-77CB-46B7-9BE1-98CA61BAB2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925" y="6308725"/>
            <a:ext cx="9072000" cy="28892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000" b="0" u="none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kumimoji="1" lang="ja-JP" altLang="en-US"/>
              <a:t>出所：</a:t>
            </a:r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238417B-61E1-82D6-361F-1773DFF1232D}"/>
              </a:ext>
            </a:extLst>
          </p:cNvPr>
          <p:cNvGrpSpPr/>
          <p:nvPr userDrawn="1"/>
        </p:nvGrpSpPr>
        <p:grpSpPr>
          <a:xfrm>
            <a:off x="7905328" y="6777038"/>
            <a:ext cx="2495600" cy="80962"/>
            <a:chOff x="-432048" y="-1002"/>
            <a:chExt cx="2495600" cy="153402"/>
          </a:xfrm>
          <a:solidFill>
            <a:schemeClr val="accent1"/>
          </a:solidFill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F766CE3-823D-8239-CE34-414E43303D1C}"/>
                </a:ext>
              </a:extLst>
            </p:cNvPr>
            <p:cNvGrpSpPr/>
            <p:nvPr userDrawn="1"/>
          </p:nvGrpSpPr>
          <p:grpSpPr>
            <a:xfrm>
              <a:off x="1199456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20" name="フローチャート: データ 19">
                <a:extLst>
                  <a:ext uri="{FF2B5EF4-FFF2-40B4-BE49-F238E27FC236}">
                    <a16:creationId xmlns:a16="http://schemas.microsoft.com/office/drawing/2014/main" id="{6A4DBA2E-0B7E-8BD9-BE7D-7A98B63FA6C9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21" name="フローチャート: データ 20">
                <a:extLst>
                  <a:ext uri="{FF2B5EF4-FFF2-40B4-BE49-F238E27FC236}">
                    <a16:creationId xmlns:a16="http://schemas.microsoft.com/office/drawing/2014/main" id="{E4AEC69D-1660-131B-A05C-D5ADA6C20FB8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4D31DD18-8B91-6C5C-18D9-50A3D93A0110}"/>
                </a:ext>
              </a:extLst>
            </p:cNvPr>
            <p:cNvGrpSpPr/>
            <p:nvPr userDrawn="1"/>
          </p:nvGrpSpPr>
          <p:grpSpPr>
            <a:xfrm>
              <a:off x="-432048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18" name="フローチャート: データ 17">
                <a:extLst>
                  <a:ext uri="{FF2B5EF4-FFF2-40B4-BE49-F238E27FC236}">
                    <a16:creationId xmlns:a16="http://schemas.microsoft.com/office/drawing/2014/main" id="{DE6FF509-3D29-B731-E85F-B400A7D5764F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9" name="フローチャート: データ 18">
                <a:extLst>
                  <a:ext uri="{FF2B5EF4-FFF2-40B4-BE49-F238E27FC236}">
                    <a16:creationId xmlns:a16="http://schemas.microsoft.com/office/drawing/2014/main" id="{FE6EF0C5-2979-E048-85CC-F732633FEB16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02E27425-95F1-760C-F61E-25C62A776FD1}"/>
                </a:ext>
              </a:extLst>
            </p:cNvPr>
            <p:cNvGrpSpPr/>
            <p:nvPr userDrawn="1"/>
          </p:nvGrpSpPr>
          <p:grpSpPr>
            <a:xfrm>
              <a:off x="335360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16" name="フローチャート: データ 15">
                <a:extLst>
                  <a:ext uri="{FF2B5EF4-FFF2-40B4-BE49-F238E27FC236}">
                    <a16:creationId xmlns:a16="http://schemas.microsoft.com/office/drawing/2014/main" id="{1635D854-6054-EA91-9347-AD804EF4BC38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7" name="フローチャート: データ 16">
                <a:extLst>
                  <a:ext uri="{FF2B5EF4-FFF2-40B4-BE49-F238E27FC236}">
                    <a16:creationId xmlns:a16="http://schemas.microsoft.com/office/drawing/2014/main" id="{04E60375-7AE5-49FF-2959-0D3904CBAC6B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CB900F51-33A2-2982-732D-50110280190B}"/>
                </a:ext>
              </a:extLst>
            </p:cNvPr>
            <p:cNvGrpSpPr/>
            <p:nvPr userDrawn="1"/>
          </p:nvGrpSpPr>
          <p:grpSpPr>
            <a:xfrm>
              <a:off x="1102768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14" name="フローチャート: データ 13">
                <a:extLst>
                  <a:ext uri="{FF2B5EF4-FFF2-40B4-BE49-F238E27FC236}">
                    <a16:creationId xmlns:a16="http://schemas.microsoft.com/office/drawing/2014/main" id="{6DF4341F-379A-C35C-1D92-1273F010D158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15" name="フローチャート: データ 14">
                <a:extLst>
                  <a:ext uri="{FF2B5EF4-FFF2-40B4-BE49-F238E27FC236}">
                    <a16:creationId xmlns:a16="http://schemas.microsoft.com/office/drawing/2014/main" id="{1ECADBBB-9632-504F-C844-24057207E49D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</p:grpSp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54A771E8-67B7-EAE9-91B5-7B3D2184A1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1223" y="17585"/>
            <a:ext cx="1858852" cy="396292"/>
          </a:xfrm>
          <a:prstGeom prst="rect">
            <a:avLst/>
          </a:prstGeom>
        </p:spPr>
      </p:pic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9BB301A3-7BAC-193A-CA66-36830502B1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925" y="124951"/>
            <a:ext cx="4321175" cy="288926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18FF35C8-463C-8953-4073-EF427919D2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925" y="441325"/>
            <a:ext cx="9090840" cy="755427"/>
          </a:xfrm>
        </p:spPr>
        <p:txBody>
          <a:bodyPr/>
          <a:lstStyle>
            <a:lvl1pPr>
              <a:spcBef>
                <a:spcPts val="250"/>
              </a:spcBef>
              <a:defRPr/>
            </a:lvl1pPr>
          </a:lstStyle>
          <a:p>
            <a:pPr lvl="0"/>
            <a:r>
              <a:rPr kumimoji="1" lang="ja-JP" altLang="en-US"/>
              <a:t>キーメッセージの記載</a:t>
            </a:r>
            <a:endParaRPr kumimoji="1" lang="en-US" altLang="ja-JP" dirty="0"/>
          </a:p>
        </p:txBody>
      </p:sp>
      <p:sp>
        <p:nvSpPr>
          <p:cNvPr id="36" name="テキスト プレースホルダー 32">
            <a:extLst>
              <a:ext uri="{FF2B5EF4-FFF2-40B4-BE49-F238E27FC236}">
                <a16:creationId xmlns:a16="http://schemas.microsoft.com/office/drawing/2014/main" id="{47EDB936-EDD4-2F85-5CB0-E243491E15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925" y="1226619"/>
            <a:ext cx="9090840" cy="537243"/>
          </a:xfrm>
        </p:spPr>
        <p:txBody>
          <a:bodyPr anchor="t">
            <a:normAutofit/>
          </a:bodyPr>
          <a:lstStyle>
            <a:lvl1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/>
            </a:lvl1pPr>
          </a:lstStyle>
          <a:p>
            <a:pPr lvl="0"/>
            <a:r>
              <a:rPr kumimoji="1" lang="ja-JP" altLang="en-US"/>
              <a:t>キーメッセージの記載</a:t>
            </a:r>
            <a:endParaRPr kumimoji="1" lang="en-US" altLang="ja-JP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30CECF5-1D90-B273-C34D-013383F34F38}"/>
              </a:ext>
            </a:extLst>
          </p:cNvPr>
          <p:cNvSpPr txBox="1"/>
          <p:nvPr userDrawn="1"/>
        </p:nvSpPr>
        <p:spPr>
          <a:xfrm>
            <a:off x="5097016" y="6607867"/>
            <a:ext cx="2754528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vi-VN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ea typeface="Meiryo UI" panose="020B0604030504040204" pitchFamily="34" charset="-128"/>
              </a:rPr>
              <a:t>Copyright © 2026 by InfoBase Co., Ltd. All rights reserved.</a:t>
            </a:r>
            <a:endParaRPr kumimoji="1" lang="ja-JP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D79F45A2-3636-4DA4-2146-A3D58EA579B8}"/>
              </a:ext>
            </a:extLst>
          </p:cNvPr>
          <p:cNvGrpSpPr/>
          <p:nvPr userDrawn="1"/>
        </p:nvGrpSpPr>
        <p:grpSpPr>
          <a:xfrm>
            <a:off x="-831875" y="-11425"/>
            <a:ext cx="2495600" cy="80962"/>
            <a:chOff x="-432048" y="-1002"/>
            <a:chExt cx="2495600" cy="153402"/>
          </a:xfrm>
          <a:solidFill>
            <a:schemeClr val="accent1"/>
          </a:solidFill>
        </p:grpSpPr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9CBAFF9E-A2CB-8D88-99CA-BE7BA6C7DC38}"/>
                </a:ext>
              </a:extLst>
            </p:cNvPr>
            <p:cNvGrpSpPr/>
            <p:nvPr userDrawn="1"/>
          </p:nvGrpSpPr>
          <p:grpSpPr>
            <a:xfrm>
              <a:off x="1199456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49" name="フローチャート: データ 48">
                <a:extLst>
                  <a:ext uri="{FF2B5EF4-FFF2-40B4-BE49-F238E27FC236}">
                    <a16:creationId xmlns:a16="http://schemas.microsoft.com/office/drawing/2014/main" id="{2399B5EA-12BC-9ED4-994A-F7B2A9FE4976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50" name="フローチャート: データ 49">
                <a:extLst>
                  <a:ext uri="{FF2B5EF4-FFF2-40B4-BE49-F238E27FC236}">
                    <a16:creationId xmlns:a16="http://schemas.microsoft.com/office/drawing/2014/main" id="{051AE7AE-D227-B527-900A-95D46511D18B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31E1BBE8-1580-268B-8DB9-5B29DA12634A}"/>
                </a:ext>
              </a:extLst>
            </p:cNvPr>
            <p:cNvGrpSpPr/>
            <p:nvPr userDrawn="1"/>
          </p:nvGrpSpPr>
          <p:grpSpPr>
            <a:xfrm>
              <a:off x="-432048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47" name="フローチャート: データ 46">
                <a:extLst>
                  <a:ext uri="{FF2B5EF4-FFF2-40B4-BE49-F238E27FC236}">
                    <a16:creationId xmlns:a16="http://schemas.microsoft.com/office/drawing/2014/main" id="{7CABCE82-BEEC-FBDB-FA54-1545955DD49E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8" name="フローチャート: データ 47">
                <a:extLst>
                  <a:ext uri="{FF2B5EF4-FFF2-40B4-BE49-F238E27FC236}">
                    <a16:creationId xmlns:a16="http://schemas.microsoft.com/office/drawing/2014/main" id="{B5413558-202B-F63A-AD95-EE6302327271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965F6902-2C58-61EC-3BB2-28596C91B42E}"/>
                </a:ext>
              </a:extLst>
            </p:cNvPr>
            <p:cNvGrpSpPr/>
            <p:nvPr userDrawn="1"/>
          </p:nvGrpSpPr>
          <p:grpSpPr>
            <a:xfrm>
              <a:off x="335360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45" name="フローチャート: データ 44">
                <a:extLst>
                  <a:ext uri="{FF2B5EF4-FFF2-40B4-BE49-F238E27FC236}">
                    <a16:creationId xmlns:a16="http://schemas.microsoft.com/office/drawing/2014/main" id="{1D047B44-C18E-8AEB-5F9D-D5659C63BEF8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6" name="フローチャート: データ 45">
                <a:extLst>
                  <a:ext uri="{FF2B5EF4-FFF2-40B4-BE49-F238E27FC236}">
                    <a16:creationId xmlns:a16="http://schemas.microsoft.com/office/drawing/2014/main" id="{C06B4AF5-75F7-AD50-E3CA-9566ED71D5F1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2B75095A-2BCC-B6C2-37DD-2F1F1E48D667}"/>
                </a:ext>
              </a:extLst>
            </p:cNvPr>
            <p:cNvGrpSpPr/>
            <p:nvPr userDrawn="1"/>
          </p:nvGrpSpPr>
          <p:grpSpPr>
            <a:xfrm>
              <a:off x="1102768" y="-1002"/>
              <a:ext cx="864096" cy="153402"/>
              <a:chOff x="-168696" y="-1002"/>
              <a:chExt cx="864096" cy="153402"/>
            </a:xfrm>
            <a:grpFill/>
          </p:grpSpPr>
          <p:sp>
            <p:nvSpPr>
              <p:cNvPr id="43" name="フローチャート: データ 42">
                <a:extLst>
                  <a:ext uri="{FF2B5EF4-FFF2-40B4-BE49-F238E27FC236}">
                    <a16:creationId xmlns:a16="http://schemas.microsoft.com/office/drawing/2014/main" id="{935FA6A9-0E8E-1F06-4074-CBACA0AC3D4C}"/>
                  </a:ext>
                </a:extLst>
              </p:cNvPr>
              <p:cNvSpPr/>
              <p:nvPr userDrawn="1"/>
            </p:nvSpPr>
            <p:spPr bwMode="gray">
              <a:xfrm>
                <a:off x="191344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  <p:sp>
            <p:nvSpPr>
              <p:cNvPr id="44" name="フローチャート: データ 43">
                <a:extLst>
                  <a:ext uri="{FF2B5EF4-FFF2-40B4-BE49-F238E27FC236}">
                    <a16:creationId xmlns:a16="http://schemas.microsoft.com/office/drawing/2014/main" id="{3AD0F7D8-D361-32A1-7ABA-09ADFDD103A5}"/>
                  </a:ext>
                </a:extLst>
              </p:cNvPr>
              <p:cNvSpPr/>
              <p:nvPr userDrawn="1"/>
            </p:nvSpPr>
            <p:spPr bwMode="gray">
              <a:xfrm>
                <a:off x="-168696" y="-1002"/>
                <a:ext cx="504056" cy="153402"/>
              </a:xfrm>
              <a:prstGeom prst="flowChartInputOutput">
                <a:avLst/>
              </a:prstGeom>
              <a:grp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l">
                  <a:buFont typeface="Wingdings 2" pitchFamily="18" charset="2"/>
                  <a:buNone/>
                </a:pPr>
                <a:endParaRPr kumimoji="1" lang="ja-JP" altLang="en-US" sz="120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548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2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0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4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1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7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6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34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3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56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61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1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26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94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6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77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326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53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20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28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805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878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09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883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179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0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47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09934" y="3043730"/>
            <a:ext cx="4446701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3251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3"/>
          </p:nvPr>
        </p:nvSpPr>
        <p:spPr>
          <a:xfrm>
            <a:off x="499117" y="5357596"/>
            <a:ext cx="4453883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463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6710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906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11" tIns="37156" rIns="74311" bIns="37156" rtlCol="0" anchor="ctr"/>
          <a:lstStyle/>
          <a:p>
            <a:pPr algn="ctr"/>
            <a:endParaRPr lang="en-US" sz="1544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904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84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377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560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5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886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987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93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45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470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258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671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741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23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906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11" tIns="37156" rIns="74311" bIns="37156" rtlCol="0" anchor="ctr"/>
          <a:lstStyle/>
          <a:p>
            <a:pPr algn="ctr"/>
            <a:endParaRPr lang="en-US" sz="1544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402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048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832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58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431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046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612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461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878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49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537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539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955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244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399020"/>
            <a:ext cx="84201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630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380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48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558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7645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28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913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233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535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160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581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322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7724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816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635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5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804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81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248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8661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392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5853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800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9009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1299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394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4638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095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8906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0778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2188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4100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4335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38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852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3533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3108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855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689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2714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51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1342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3010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9649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8235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7538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2124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309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9183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2911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4434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5383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10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2959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691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6610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849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9607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3428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7162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803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2771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4514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924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906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11" tIns="37156" rIns="74311" bIns="37156" rtlCol="0" anchor="ctr"/>
          <a:lstStyle/>
          <a:p>
            <a:pPr algn="ctr"/>
            <a:endParaRPr lang="en-US" sz="1544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520065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71256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2737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3578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0815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3081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7256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950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836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5357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928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3488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2993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9694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6649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906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11" tIns="37156" rIns="74311" bIns="37156" rtlCol="0" anchor="ctr"/>
          <a:lstStyle/>
          <a:p>
            <a:pPr algn="ctr"/>
            <a:endParaRPr lang="en-US" sz="1544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6214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5971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7782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6392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92626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9671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781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7824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3136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1540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71165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175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9417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428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906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11" tIns="37156" rIns="74311" bIns="37156" rtlCol="0" anchor="ctr"/>
          <a:lstStyle/>
          <a:p>
            <a:pPr algn="ctr"/>
            <a:endParaRPr lang="en-US" sz="1544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5855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5530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596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304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8077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6929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5893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7872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1555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4889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0311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2563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4597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7487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3607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5039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817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7749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4554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4938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614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860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5386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03153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5185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68735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4997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7117"/>
            <a:ext cx="8420100" cy="610820"/>
          </a:xfrm>
        </p:spPr>
        <p:txBody>
          <a:bodyPr/>
          <a:lstStyle>
            <a:lvl1pPr algn="ctr">
              <a:defRPr lang="en-US" sz="325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99020"/>
            <a:ext cx="69342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95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95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0311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0458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0399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5"/>
          </a:xfrm>
        </p:spPr>
        <p:txBody>
          <a:bodyPr anchor="t"/>
          <a:lstStyle>
            <a:lvl1pPr algn="l">
              <a:defRPr sz="430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94">
                <a:solidFill>
                  <a:schemeClr val="tx1">
                    <a:tint val="75000"/>
                  </a:schemeClr>
                </a:solidFill>
              </a:defRPr>
            </a:lvl1pPr>
            <a:lvl2pPr marL="4953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6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8600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198134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47667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297201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46734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396268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6438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3007"/>
            </a:lvl1pPr>
            <a:lvl2pPr>
              <a:defRPr sz="2601"/>
            </a:lvl2pPr>
            <a:lvl3pPr>
              <a:defRPr sz="2194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28822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4"/>
            <a:ext cx="437687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4"/>
            <a:ext cx="4378590" cy="639763"/>
          </a:xfrm>
        </p:spPr>
        <p:txBody>
          <a:bodyPr anchor="b"/>
          <a:lstStyle>
            <a:lvl1pPr marL="0" indent="0">
              <a:buNone/>
              <a:defRPr sz="2601" b="1"/>
            </a:lvl1pPr>
            <a:lvl2pPr marL="495335" indent="0">
              <a:buNone/>
              <a:defRPr sz="2194" b="1"/>
            </a:lvl2pPr>
            <a:lvl3pPr marL="990671" indent="0">
              <a:buNone/>
              <a:defRPr sz="1950" b="1"/>
            </a:lvl3pPr>
            <a:lvl4pPr marL="1486006" indent="0">
              <a:buNone/>
              <a:defRPr sz="1707" b="1"/>
            </a:lvl4pPr>
            <a:lvl5pPr marL="1981341" indent="0">
              <a:buNone/>
              <a:defRPr sz="1707" b="1"/>
            </a:lvl5pPr>
            <a:lvl6pPr marL="2476676" indent="0">
              <a:buNone/>
              <a:defRPr sz="1707" b="1"/>
            </a:lvl6pPr>
            <a:lvl7pPr marL="2972011" indent="0">
              <a:buNone/>
              <a:defRPr sz="1707" b="1"/>
            </a:lvl7pPr>
            <a:lvl8pPr marL="3467346" indent="0">
              <a:buNone/>
              <a:defRPr sz="1707" b="1"/>
            </a:lvl8pPr>
            <a:lvl9pPr marL="396268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1"/>
            </a:lvl1pPr>
            <a:lvl2pPr>
              <a:defRPr sz="2194"/>
            </a:lvl2pPr>
            <a:lvl3pPr>
              <a:defRPr sz="195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30198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92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2761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67064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5" cy="1162051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495"/>
            </a:lvl1pPr>
            <a:lvl2pPr>
              <a:defRPr sz="3007"/>
            </a:lvl2pPr>
            <a:lvl3pPr>
              <a:defRPr sz="2601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5" cy="46910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3165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6" y="4800601"/>
            <a:ext cx="5943600" cy="566739"/>
          </a:xfrm>
        </p:spPr>
        <p:txBody>
          <a:bodyPr anchor="b"/>
          <a:lstStyle>
            <a:lvl1pPr algn="l">
              <a:defRPr sz="21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6" y="612775"/>
            <a:ext cx="5943600" cy="4114800"/>
          </a:xfrm>
        </p:spPr>
        <p:txBody>
          <a:bodyPr/>
          <a:lstStyle>
            <a:lvl1pPr marL="0" indent="0">
              <a:buNone/>
              <a:defRPr sz="3495"/>
            </a:lvl1pPr>
            <a:lvl2pPr marL="495335" indent="0">
              <a:buNone/>
              <a:defRPr sz="3007"/>
            </a:lvl2pPr>
            <a:lvl3pPr marL="990671" indent="0">
              <a:buNone/>
              <a:defRPr sz="2601"/>
            </a:lvl3pPr>
            <a:lvl4pPr marL="1486006" indent="0">
              <a:buNone/>
              <a:defRPr sz="2194"/>
            </a:lvl4pPr>
            <a:lvl5pPr marL="1981341" indent="0">
              <a:buNone/>
              <a:defRPr sz="2194"/>
            </a:lvl5pPr>
            <a:lvl6pPr marL="2476676" indent="0">
              <a:buNone/>
              <a:defRPr sz="2194"/>
            </a:lvl6pPr>
            <a:lvl7pPr marL="2972011" indent="0">
              <a:buNone/>
              <a:defRPr sz="2194"/>
            </a:lvl7pPr>
            <a:lvl8pPr marL="3467346" indent="0">
              <a:buNone/>
              <a:defRPr sz="2194"/>
            </a:lvl8pPr>
            <a:lvl9pPr marL="3962682" indent="0">
              <a:buNone/>
              <a:defRPr sz="21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6" y="5367339"/>
            <a:ext cx="5943600" cy="804863"/>
          </a:xfrm>
        </p:spPr>
        <p:txBody>
          <a:bodyPr/>
          <a:lstStyle>
            <a:lvl1pPr marL="0" indent="0">
              <a:buNone/>
              <a:defRPr sz="1544"/>
            </a:lvl1pPr>
            <a:lvl2pPr marL="495335" indent="0">
              <a:buNone/>
              <a:defRPr sz="1300"/>
            </a:lvl2pPr>
            <a:lvl3pPr marL="990671" indent="0">
              <a:buNone/>
              <a:defRPr sz="1057"/>
            </a:lvl3pPr>
            <a:lvl4pPr marL="1486006" indent="0">
              <a:buNone/>
              <a:defRPr sz="975"/>
            </a:lvl4pPr>
            <a:lvl5pPr marL="1981341" indent="0">
              <a:buNone/>
              <a:defRPr sz="975"/>
            </a:lvl5pPr>
            <a:lvl6pPr marL="2476676" indent="0">
              <a:buNone/>
              <a:defRPr sz="975"/>
            </a:lvl6pPr>
            <a:lvl7pPr marL="2972011" indent="0">
              <a:buNone/>
              <a:defRPr sz="975"/>
            </a:lvl7pPr>
            <a:lvl8pPr marL="3467346" indent="0">
              <a:buNone/>
              <a:defRPr sz="975"/>
            </a:lvl8pPr>
            <a:lvl9pPr marL="3962682" indent="0">
              <a:buNone/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2448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9071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965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171" y="2870634"/>
            <a:ext cx="4819931" cy="711081"/>
          </a:xfrm>
        </p:spPr>
        <p:txBody>
          <a:bodyPr>
            <a:normAutofit/>
          </a:bodyPr>
          <a:lstStyle>
            <a:lvl1pPr algn="ctr">
              <a:defRPr sz="2926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118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9.xml"/><Relationship Id="rId3" Type="http://schemas.openxmlformats.org/officeDocument/2006/relationships/slideLayout" Target="../slideLayouts/slideLayout90.xml"/><Relationship Id="rId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5.xml"/><Relationship Id="rId9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26.xml"/><Relationship Id="rId1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9.xml"/><Relationship Id="rId1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0.xml"/><Relationship Id="rId2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3.xml"/><Relationship Id="rId1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<Relationship Id="rId1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8.xml"/><Relationship Id="rId9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3.xml"/><Relationship Id="rId14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795893290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17" imgH="215" progId="TCLayout.ActiveDocument.1">
                  <p:embed/>
                </p:oleObj>
              </mc:Choice>
              <mc:Fallback>
                <p:oleObj name="think-cell Slide" r:id="rId9" imgW="217" imgH="215" progId="TCLayout.ActiveDocument.1">
                  <p:embed/>
                  <p:pic>
                    <p:nvPicPr>
                      <p:cNvPr id="6" name="オブジェクト 5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17000" y="152400"/>
            <a:ext cx="9072000" cy="8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17601" y="1476000"/>
            <a:ext cx="4356000" cy="4824000"/>
          </a:xfrm>
          <a:prstGeom prst="rect">
            <a:avLst/>
          </a:prstGeom>
        </p:spPr>
        <p:txBody>
          <a:bodyPr vert="horz" lIns="7200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Text Box 37"/>
          <p:cNvSpPr txBox="1">
            <a:spLocks noChangeArrowheads="1"/>
          </p:cNvSpPr>
          <p:nvPr userDrawn="1"/>
        </p:nvSpPr>
        <p:spPr bwMode="gray">
          <a:xfrm>
            <a:off x="317638" y="6625383"/>
            <a:ext cx="273599" cy="131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fld id="{AA5FCFE5-FE56-4EF1-80A8-07776887C2A1}" type="slidenum">
              <a:rPr kumimoji="1" lang="ja-JP" altLang="en-US" sz="900" smtClean="0"/>
              <a:pPr algn="r" rtl="0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 altLang="ja-JP" sz="900" kern="1200" dirty="0">
              <a:solidFill>
                <a:schemeClr val="tx2"/>
              </a:solidFill>
              <a:latin typeface="Arial" charset="0"/>
              <a:ea typeface="ＭＳ Ｐゴシック" pitchFamily="50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76" r:id="rId2"/>
    <p:sldLayoutId id="2147483977" r:id="rId3"/>
    <p:sldLayoutId id="2147483978" r:id="rId4"/>
    <p:sldLayoutId id="2147483979" r:id="rId5"/>
    <p:sldLayoutId id="2147484181" r:id="rId6"/>
  </p:sldLayoutIdLst>
  <p:hf sldNum="0"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6000"/>
        </a:lnSpc>
        <a:spcBef>
          <a:spcPts val="1056"/>
        </a:spcBef>
        <a:spcAft>
          <a:spcPts val="0"/>
        </a:spcAft>
        <a:buSzPct val="100000"/>
        <a:buFont typeface="Arial" panose="020B0604020202020204" pitchFamily="34" charset="0"/>
        <a:buNone/>
        <a:defRPr kumimoji="1"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90564" rtl="0" eaLnBrk="1" latinLnBrk="0" hangingPunct="1">
        <a:lnSpc>
          <a:spcPct val="106000"/>
        </a:lnSpc>
        <a:spcBef>
          <a:spcPts val="1056"/>
        </a:spcBef>
        <a:spcAft>
          <a:spcPts val="0"/>
        </a:spcAft>
        <a:buClrTx/>
        <a:buSzPct val="100000"/>
        <a:buFont typeface="Wingdings" panose="05000000000000000000" pitchFamily="2" charset="2"/>
        <a:buChar char="q"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90564" rtl="0" eaLnBrk="1" latinLnBrk="0" hangingPunct="1">
        <a:lnSpc>
          <a:spcPct val="106000"/>
        </a:lnSpc>
        <a:spcBef>
          <a:spcPts val="48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18400" indent="-172800" algn="l" defTabSz="990564" rtl="0" eaLnBrk="1" latinLnBrk="0" hangingPunct="1">
        <a:lnSpc>
          <a:spcPct val="106000"/>
        </a:lnSpc>
        <a:spcBef>
          <a:spcPts val="24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2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77179" indent="-191093" algn="l" defTabSz="865024" rtl="0" eaLnBrk="1" latinLnBrk="0" hangingPunct="1">
        <a:spcBef>
          <a:spcPts val="0"/>
        </a:spcBef>
        <a:spcAft>
          <a:spcPts val="1083"/>
        </a:spcAft>
        <a:buClrTx/>
        <a:buSzPct val="100000"/>
        <a:buFont typeface="Verdana" panose="020B0604030504040204" pitchFamily="34" charset="0"/>
        <a:buChar char="−"/>
        <a:tabLst/>
        <a:defRPr kumimoji="1" lang="en-US" sz="1192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007" userDrawn="1">
          <p15:clr>
            <a:srgbClr val="A4A3A4"/>
          </p15:clr>
        </p15:guide>
        <p15:guide id="4" pos="3233" userDrawn="1">
          <p15:clr>
            <a:srgbClr val="A4A3A4"/>
          </p15:clr>
        </p15:guide>
        <p15:guide id="5" pos="5978" userDrawn="1">
          <p15:clr>
            <a:srgbClr val="A4A3A4"/>
          </p15:clr>
        </p15:guide>
        <p15:guide id="6" pos="26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640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6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  <p:sldLayoutId id="2147484007" r:id="rId13"/>
    <p:sldLayoutId id="2147484008" r:id="rId14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4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22" r:id="rId13"/>
    <p:sldLayoutId id="2147484023" r:id="rId14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4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6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  <p:sldLayoutId id="2147484052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5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  <p:sldLayoutId id="2147484066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2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4" r:id="rId7"/>
    <p:sldLayoutId id="2147484075" r:id="rId8"/>
    <p:sldLayoutId id="2147484076" r:id="rId9"/>
    <p:sldLayoutId id="2147484077" r:id="rId10"/>
    <p:sldLayoutId id="2147484078" r:id="rId11"/>
    <p:sldLayoutId id="2147484079" r:id="rId12"/>
    <p:sldLayoutId id="2147484080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5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  <p:sldLayoutId id="2147484094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  <p:sldLayoutId id="2147484107" r:id="rId12"/>
    <p:sldLayoutId id="2147484108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  <p:sldLayoutId id="2147484121" r:id="rId12"/>
    <p:sldLayoutId id="2147484122" r:id="rId13"/>
  </p:sldLayoutIdLst>
  <p:txStyles>
    <p:titleStyle>
      <a:lvl1pPr algn="l" defTabSz="990671" rtl="0" eaLnBrk="1" latinLnBrk="0" hangingPunct="1">
        <a:spcBef>
          <a:spcPct val="0"/>
        </a:spcBef>
        <a:buNone/>
        <a:defRPr kumimoji="1"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kumimoji="1"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kumimoji="1"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kumimoji="1"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kumimoji="1"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9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  <p:sldLayoutId id="2147484135" r:id="rId12"/>
    <p:sldLayoutId id="2147484136" r:id="rId13"/>
    <p:sldLayoutId id="2147484137" r:id="rId14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  <p:sldLayoutId id="2147484150" r:id="rId12"/>
    <p:sldLayoutId id="2147484151" r:id="rId13"/>
    <p:sldLayoutId id="2147484152" r:id="rId14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165" r:id="rId12"/>
    <p:sldLayoutId id="2147484166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38425"/>
            <a:ext cx="8915400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0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  <p:sldLayoutId id="2147484176" r:id="rId9"/>
    <p:sldLayoutId id="2147484177" r:id="rId10"/>
    <p:sldLayoutId id="2147484178" r:id="rId11"/>
    <p:sldLayoutId id="2147484179" r:id="rId12"/>
    <p:sldLayoutId id="2147484180" r:id="rId13"/>
  </p:sldLayoutIdLst>
  <p:txStyles>
    <p:titleStyle>
      <a:lvl1pPr algn="l" defTabSz="990671" rtl="0" eaLnBrk="1" latinLnBrk="0" hangingPunct="1">
        <a:spcBef>
          <a:spcPct val="0"/>
        </a:spcBef>
        <a:buNone/>
        <a:defRPr sz="2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501" indent="-371501" algn="l" defTabSz="990671" rtl="0" eaLnBrk="1" latinLnBrk="0" hangingPunct="1">
        <a:spcBef>
          <a:spcPct val="20000"/>
        </a:spcBef>
        <a:buFont typeface="Arial" pitchFamily="34" charset="0"/>
        <a:buChar char="•"/>
        <a:defRPr sz="2926" kern="1200">
          <a:solidFill>
            <a:schemeClr val="tx1"/>
          </a:solidFill>
          <a:latin typeface="+mj-lt"/>
          <a:ea typeface="+mn-ea"/>
          <a:cs typeface="+mn-cs"/>
        </a:defRPr>
      </a:lvl1pPr>
      <a:lvl2pPr marL="804920" indent="-309584" algn="l" defTabSz="990671" rtl="0" eaLnBrk="1" latinLnBrk="0" hangingPunct="1">
        <a:spcBef>
          <a:spcPct val="20000"/>
        </a:spcBef>
        <a:buFont typeface="Arial" pitchFamily="34" charset="0"/>
        <a:buChar char="–"/>
        <a:defRPr sz="2601" kern="1200">
          <a:solidFill>
            <a:schemeClr val="tx1"/>
          </a:solidFill>
          <a:latin typeface="+mj-lt"/>
          <a:ea typeface="+mn-ea"/>
          <a:cs typeface="+mn-cs"/>
        </a:defRPr>
      </a:lvl2pPr>
      <a:lvl3pPr marL="1238338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3pPr>
      <a:lvl4pPr marL="1733674" indent="-247668" algn="l" defTabSz="990671" rtl="0" eaLnBrk="1" latinLnBrk="0" hangingPunct="1">
        <a:spcBef>
          <a:spcPct val="20000"/>
        </a:spcBef>
        <a:buFont typeface="Arial" pitchFamily="34" charset="0"/>
        <a:buChar char="–"/>
        <a:defRPr sz="1625" kern="1200">
          <a:solidFill>
            <a:schemeClr val="tx1"/>
          </a:solidFill>
          <a:latin typeface="+mj-lt"/>
          <a:ea typeface="+mn-ea"/>
          <a:cs typeface="+mn-cs"/>
        </a:defRPr>
      </a:lvl4pPr>
      <a:lvl5pPr marL="2229009" indent="-247668" algn="l" defTabSz="990671" rtl="0" eaLnBrk="1" latinLnBrk="0" hangingPunct="1">
        <a:spcBef>
          <a:spcPct val="20000"/>
        </a:spcBef>
        <a:buFont typeface="Arial" pitchFamily="34" charset="0"/>
        <a:buChar char="»"/>
        <a:defRPr sz="1625" kern="1200">
          <a:solidFill>
            <a:schemeClr val="tx1"/>
          </a:solidFill>
          <a:latin typeface="+mj-lt"/>
          <a:ea typeface="+mn-ea"/>
          <a:cs typeface="+mn-cs"/>
        </a:defRPr>
      </a:lvl5pPr>
      <a:lvl6pPr marL="272434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21967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715014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210349" indent="-247668" algn="l" defTabSz="990671" rtl="0" eaLnBrk="1" latinLnBrk="0" hangingPunct="1">
        <a:spcBef>
          <a:spcPct val="20000"/>
        </a:spcBef>
        <a:buFont typeface="Arial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35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7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600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4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7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1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346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82" algn="l" defTabSz="990671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chart" Target="../charts/chart13.xml"/><Relationship Id="rId4" Type="http://schemas.openxmlformats.org/officeDocument/2006/relationships/image" Target="../media/image6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jpg"/><Relationship Id="rId4" Type="http://schemas.openxmlformats.org/officeDocument/2006/relationships/chart" Target="../charts/chart15.xml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8D45-879B-DF2C-9EAB-75F4F8EE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95F76E-86F7-8180-7525-A8AE6C5DD2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1023561"/>
            <a:ext cx="9072000" cy="480575"/>
          </a:xfrm>
          <a:noFill/>
          <a:ln>
            <a:noFill/>
          </a:ln>
        </p:spPr>
        <p:txBody>
          <a:bodyPr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ユニクロ32店・無印良品19店に対し、ABCマートは5店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20BD1C-3553-0953-388E-694F0B5AF5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>
              <a:latin typeface="Meiryo UI"/>
              <a:ea typeface="Meiryo UI"/>
              <a:cs typeface="Meiryo UI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EE3AE5-DDE2-E317-6C48-C770346A91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kumimoji="1" lang="ja-JP" altLang="en-US" sz="1400">
                <a:latin typeface="Meiryo UI"/>
                <a:ea typeface="Meiryo UI"/>
                <a:cs typeface="Meiryo UI"/>
              </a:rPr>
              <a:t>出所：各社公式店舗一覧・公表資料をもとにInfoBank作成。ユニクロは2026年7月時点、ABCマートは新店を含む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499A37-C1B2-7670-2818-040BB452D6CD}"/>
              </a:ext>
            </a:extLst>
          </p:cNvPr>
          <p:cNvSpPr txBox="1"/>
          <p:nvPr/>
        </p:nvSpPr>
        <p:spPr>
          <a:xfrm>
            <a:off x="1928664" y="2194469"/>
            <a:ext cx="712302" cy="349702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kumimoji="1" lang="ja-JP" altLang="en-US" sz="1800" b="1">
                <a:latin typeface="Meiryo UI"/>
                <a:ea typeface="Meiryo UI"/>
                <a:cs typeface="Meiryo UI"/>
              </a:rPr>
              <a:t/>
            </a:r>
            <a:endParaRPr kumimoji="1" lang="vi-VN" altLang="ja-JP" sz="1800" b="1" dirty="0">
              <a:latin typeface="Meiryo UI"/>
              <a:ea typeface="Meiryo UI"/>
              <a:cs typeface="Meiryo UI"/>
            </a:endParaRPr>
          </a:p>
        </p:txBody>
      </p:sp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201FC3A8-7D85-05F8-AF59-7885275026A6}"/>
              </a:ext>
            </a:extLst>
          </p:cNvPr>
          <p:cNvGraphicFramePr/>
          <p:nvPr/>
        </p:nvGraphicFramePr>
        <p:xfrm>
          <a:off x="422635" y="1988840"/>
          <a:ext cx="9065289" cy="3845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092F852-3494-7B7E-6921-3A6629AA16E9}"/>
              </a:ext>
            </a:extLst>
          </p:cNvPr>
          <p:cNvSpPr txBox="1"/>
          <p:nvPr/>
        </p:nvSpPr>
        <p:spPr>
          <a:xfrm>
            <a:off x="2880182" y="5908478"/>
            <a:ext cx="3786861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kumimoji="1" lang="en-US" altLang="ja-JP" sz="1600" dirty="0">
                <a:latin typeface="Meiryo UI"/>
                <a:ea typeface="Meiryo UI"/>
                <a:cs typeface="Meiryo UI"/>
              </a:rPr>
              <a:t>※無印良品は2026年8月時点</a:t>
            </a:r>
            <a:endParaRPr kumimoji="1" lang="ja-JP" altLang="en-US" sz="1600" dirty="0" err="1">
              <a:latin typeface="Meiryo UI"/>
              <a:ea typeface="Meiryo UI"/>
              <a:cs typeface="Meiryo UI"/>
            </a:endParaRPr>
          </a:p>
        </p:txBody>
      </p:sp>
      <p:pic>
        <p:nvPicPr>
          <p:cNvPr id="15" name="図 14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3D1C8CB-1277-841B-13D8-29A30C173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317" y="5834439"/>
            <a:ext cx="1774007" cy="38048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8175C0-4753-B874-D9A5-8A2258CB7D33}"/>
              </a:ext>
            </a:extLst>
          </p:cNvPr>
          <p:cNvSpPr txBox="1"/>
          <p:nvPr/>
        </p:nvSpPr>
        <p:spPr>
          <a:xfrm>
            <a:off x="422635" y="1567699"/>
            <a:ext cx="9046689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kumimoji="1" lang="ja-JP" altLang="en-US" sz="2000" b="1">
                <a:solidFill>
                  <a:srgbClr val="004CA0"/>
                </a:solidFill>
                <a:latin typeface="Meiryo UI"/>
                <a:ea typeface="Meiryo UI"/>
                <a:cs typeface="Meiryo UI"/>
              </a:rPr>
              <a:t>日系専門店チェーンのベトナム店舗数（単位：店）</a:t>
            </a:r>
          </a:p>
        </p:txBody>
      </p:sp>
    </p:spTree>
    <p:extLst>
      <p:ext uri="{BB962C8B-B14F-4D97-AF65-F5344CB8AC3E}">
        <p14:creationId xmlns:p14="http://schemas.microsoft.com/office/powerpoint/2010/main" val="307113894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FD8E-4E14-B4A0-0D7F-B03B138D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8620A4-FA7F-59AC-FCEA-2FFEBE3991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1023561"/>
            <a:ext cx="9072000" cy="480575"/>
          </a:xfrm>
          <a:noFill/>
          <a:ln>
            <a:noFill/>
          </a:ln>
        </p:spPr>
        <p:txBody>
          <a:bodyPr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韓国317店に対しベトナムは4店、今回の開業で5店に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508271-44FC-B4C9-F477-589341E95A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>
              <a:latin typeface="Meiryo UI"/>
              <a:ea typeface="Meiryo UI"/>
              <a:cs typeface="Meiryo UI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71F004-7570-DED6-1FDA-61337EB7E4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302" y="5272766"/>
            <a:ext cx="9072000" cy="288925"/>
          </a:xfrm>
        </p:spPr>
        <p:txBody>
          <a:bodyPr>
            <a:normAutofit/>
          </a:bodyPr>
          <a:lstStyle/>
          <a:p>
            <a:r>
              <a:rPr kumimoji="1" lang="ja-JP" altLang="en-US" sz="1200">
                <a:latin typeface="Meiryo UI"/>
                <a:ea typeface="Meiryo UI"/>
                <a:cs typeface="Meiryo UI"/>
              </a:rPr>
              <a:t>出所：エービーシー・マート「2027年2月期第1四半期決算」をもとにInfoBank作成</a:t>
            </a:r>
            <a:endParaRPr kumimoji="1" lang="ja-JP" altLang="en-US" sz="1200">
              <a:latin typeface="Meiryo UI"/>
              <a:ea typeface="Meiryo UI"/>
              <a:cs typeface="Meiryo UI"/>
            </a:endParaRPr>
          </a:p>
        </p:txBody>
      </p:sp>
      <p:pic>
        <p:nvPicPr>
          <p:cNvPr id="10" name="図 9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1AA9DEA-11BE-EE6E-C7AA-00FB32C36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557" y="5102117"/>
            <a:ext cx="2345589" cy="503070"/>
          </a:xfrm>
          <a:prstGeom prst="rect">
            <a:avLst/>
          </a:prstGeom>
        </p:spPr>
      </p:pic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07720DAE-D0DE-ACF5-8D1D-8A3258F26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873227"/>
              </p:ext>
            </p:extLst>
          </p:nvPr>
        </p:nvGraphicFramePr>
        <p:xfrm>
          <a:off x="1352600" y="1988841"/>
          <a:ext cx="8135324" cy="3199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DF0B8-7A8C-62D0-55C2-1E442DEF00D6}"/>
              </a:ext>
            </a:extLst>
          </p:cNvPr>
          <p:cNvSpPr txBox="1"/>
          <p:nvPr/>
        </p:nvSpPr>
        <p:spPr>
          <a:xfrm>
            <a:off x="8481392" y="1669889"/>
            <a:ext cx="768406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kumimoji="1" lang="ja-JP" altLang="en-US" sz="1600">
                <a:latin typeface="Meiryo UI"/>
                <a:ea typeface="Meiryo UI"/>
                <a:cs typeface="Meiryo UI"/>
              </a:rPr>
              <a:t>単位：店</a:t>
            </a:r>
            <a:endParaRPr kumimoji="1" lang="ja-JP" altLang="en-US" sz="1600" dirty="0" err="1">
              <a:latin typeface="Meiryo UI"/>
              <a:ea typeface="Meiryo UI"/>
              <a:cs typeface="Meiryo U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3EBADF-E8EC-2F2B-37A1-3BFA3D5FB45A}"/>
              </a:ext>
            </a:extLst>
          </p:cNvPr>
          <p:cNvSpPr txBox="1"/>
          <p:nvPr/>
        </p:nvSpPr>
        <p:spPr>
          <a:xfrm>
            <a:off x="1954461" y="1608333"/>
            <a:ext cx="5437954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altLang="ja-JP" sz="2000" b="1" dirty="0">
                <a:solidFill>
                  <a:srgbClr val="004CA0"/>
                </a:solidFill>
                <a:latin typeface="Meiryo UI"/>
                <a:ea typeface="Meiryo UI"/>
                <a:cs typeface="Meiryo UI"/>
              </a:rPr>
              <a:t>ABCマートの海外店舗数（2026年3月末時点）</a:t>
            </a:r>
            <a:endParaRPr kumimoji="1" lang="ja-JP" altLang="en-US" sz="2000" b="1">
              <a:solidFill>
                <a:srgbClr val="004CA0"/>
              </a:solidFill>
              <a:latin typeface="Meiryo UI"/>
              <a:ea typeface="Meiryo UI"/>
              <a:cs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2831261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m/%d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通常のテンプレート">
  <a:themeElements>
    <a:clrScheme name="ユーザー定義 1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014BA2"/>
      </a:accent1>
      <a:accent2>
        <a:srgbClr val="15169B"/>
      </a:accent2>
      <a:accent3>
        <a:srgbClr val="2948E2"/>
      </a:accent3>
      <a:accent4>
        <a:srgbClr val="49B5C3"/>
      </a:accent4>
      <a:accent5>
        <a:srgbClr val="E92E55"/>
      </a:accent5>
      <a:accent6>
        <a:srgbClr val="C7A432"/>
      </a:accent6>
      <a:hlink>
        <a:srgbClr val="6B9F25"/>
      </a:hlink>
      <a:folHlink>
        <a:srgbClr val="BA6906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wrap="square" lIns="88900" tIns="88900" rIns="88900" bIns="88900" rtlCol="0" anchor="ctr"/>
      <a:lstStyle>
        <a:defPPr algn="l">
          <a:buFont typeface="Wingdings 2" pitchFamily="18" charset="2"/>
          <a:buNone/>
          <a:defRPr kumimoji="1" sz="1200" dirty="0"/>
        </a:defPPr>
      </a:lst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>
        <a:spAutoFit/>
      </a:bodyPr>
      <a:lstStyle>
        <a:defPPr algn="l">
          <a:spcBef>
            <a:spcPts val="600"/>
          </a:spcBef>
          <a:buSzPct val="100000"/>
          <a:defRPr kumimoji="1" sz="1400" smtClean="0">
            <a:latin typeface="Meiryo UI" panose="020B0604030504040204" pitchFamily="34" charset="-128"/>
            <a:ea typeface="Meiryo UI" panose="020B0604030504040204" pitchFamily="34" charset="-128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77567521-B7C2-492C-A5E8-18789E325333}" vid="{E8F4B11B-222F-4B9A-8816-5D5DE610F567}"/>
    </a:ext>
  </a:extLst>
</a:theme>
</file>

<file path=ppt/theme/theme2.xml><?xml version="1.0" encoding="utf-8"?>
<a:theme xmlns:a="http://schemas.openxmlformats.org/drawingml/2006/main" name="22_Office Theme">
  <a:themeElements>
    <a:clrScheme name="Custom 1032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03045E"/>
      </a:accent1>
      <a:accent2>
        <a:srgbClr val="023E8A"/>
      </a:accent2>
      <a:accent3>
        <a:srgbClr val="0077B6"/>
      </a:accent3>
      <a:accent4>
        <a:srgbClr val="0096C7"/>
      </a:accent4>
      <a:accent5>
        <a:srgbClr val="00B4D8"/>
      </a:accent5>
      <a:accent6>
        <a:srgbClr val="48CAE4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Office Theme">
  <a:themeElements>
    <a:clrScheme name="Custom 8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595E"/>
      </a:accent1>
      <a:accent2>
        <a:srgbClr val="FFCA3A"/>
      </a:accent2>
      <a:accent3>
        <a:srgbClr val="8AC926"/>
      </a:accent3>
      <a:accent4>
        <a:srgbClr val="1982C4"/>
      </a:accent4>
      <a:accent5>
        <a:srgbClr val="6A4C93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9_Office Theme">
  <a:themeElements>
    <a:clrScheme name="Bradley Curv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43125"/>
      </a:accent1>
      <a:accent2>
        <a:srgbClr val="B8DA3B"/>
      </a:accent2>
      <a:accent3>
        <a:srgbClr val="39A3DF"/>
      </a:accent3>
      <a:accent4>
        <a:srgbClr val="71469A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Office Theme">
  <a:themeElements>
    <a:clrScheme name="Custom 10">
      <a:dk1>
        <a:srgbClr val="000000"/>
      </a:dk1>
      <a:lt1>
        <a:srgbClr val="FFFFFF"/>
      </a:lt1>
      <a:dk2>
        <a:srgbClr val="006699"/>
      </a:dk2>
      <a:lt2>
        <a:srgbClr val="999999"/>
      </a:lt2>
      <a:accent1>
        <a:srgbClr val="009966"/>
      </a:accent1>
      <a:accent2>
        <a:srgbClr val="339933"/>
      </a:accent2>
      <a:accent3>
        <a:srgbClr val="009933"/>
      </a:accent3>
      <a:accent4>
        <a:srgbClr val="006666"/>
      </a:accent4>
      <a:accent5>
        <a:srgbClr val="99CCCC"/>
      </a:accent5>
      <a:accent6>
        <a:srgbClr val="CCFFC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3_Office Theme">
  <a:themeElements>
    <a:clrScheme name="2019 Calenda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9_Office Theme">
  <a:themeElements>
    <a:clrScheme name="Custom 319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373ABF"/>
      </a:accent1>
      <a:accent2>
        <a:srgbClr val="0080B1"/>
      </a:accent2>
      <a:accent3>
        <a:srgbClr val="3ECEC0"/>
      </a:accent3>
      <a:accent4>
        <a:srgbClr val="4CC111"/>
      </a:accent4>
      <a:accent5>
        <a:srgbClr val="7F6657"/>
      </a:accent5>
      <a:accent6>
        <a:srgbClr val="4C4242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8_Office Theme">
  <a:themeElements>
    <a:clrScheme name="2019 Calendar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6_Office Theme">
  <a:themeElements>
    <a:clrScheme name="Custom 753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5B72A8"/>
      </a:accent1>
      <a:accent2>
        <a:srgbClr val="5584DC"/>
      </a:accent2>
      <a:accent3>
        <a:srgbClr val="5CA7E0"/>
      </a:accent3>
      <a:accent4>
        <a:srgbClr val="69D3E1"/>
      </a:accent4>
      <a:accent5>
        <a:srgbClr val="66D0A0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3_Office Theme">
  <a:themeElements>
    <a:clrScheme name="2019 Calendar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6126-01-tuckmans-team-development-model-powerpoint">
  <a:themeElements>
    <a:clrScheme name="slidemodel.co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Office Theme">
  <a:themeElements>
    <a:clrScheme name="Blockchai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163FF"/>
      </a:accent1>
      <a:accent2>
        <a:srgbClr val="023BCA"/>
      </a:accent2>
      <a:accent3>
        <a:srgbClr val="CCCCCC"/>
      </a:accent3>
      <a:accent4>
        <a:srgbClr val="B4BE80"/>
      </a:accent4>
      <a:accent5>
        <a:srgbClr val="E7AE45"/>
      </a:accent5>
      <a:accent6>
        <a:srgbClr val="FF505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2_Office Theme">
  <a:themeElements>
    <a:clrScheme name="Custom 509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535FF3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4_Office Theme">
  <a:themeElements>
    <a:clrScheme name="Custom 519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FEB030"/>
      </a:accent1>
      <a:accent2>
        <a:srgbClr val="FD6467"/>
      </a:accent2>
      <a:accent3>
        <a:srgbClr val="011B81"/>
      </a:accent3>
      <a:accent4>
        <a:srgbClr val="47C46E"/>
      </a:accent4>
      <a:accent5>
        <a:srgbClr val="5420C0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プロポーザル用テンプレート</Template>
  <TotalTime>0</TotalTime>
  <Words>5459</Words>
  <Application>Microsoft Macintosh PowerPoint</Application>
  <PresentationFormat>A4 210 x 297 mm</PresentationFormat>
  <Paragraphs>1437</Paragraphs>
  <Slides>133</Slides>
  <Notes>82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15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133</vt:i4>
      </vt:variant>
    </vt:vector>
  </HeadingPairs>
  <TitlesOfParts>
    <vt:vector size="161" baseType="lpstr">
      <vt:lpstr>Meiryo UI</vt:lpstr>
      <vt:lpstr>ＭＳ Ｐゴシック</vt:lpstr>
      <vt:lpstr>游ゴシック</vt:lpstr>
      <vt:lpstr>Arial</vt:lpstr>
      <vt:lpstr>Arial Black</vt:lpstr>
      <vt:lpstr>Calibri</vt:lpstr>
      <vt:lpstr>Cambria</vt:lpstr>
      <vt:lpstr>Open Sans</vt:lpstr>
      <vt:lpstr>Segoe UI</vt:lpstr>
      <vt:lpstr>Verdana</vt:lpstr>
      <vt:lpstr>Wingdings</vt:lpstr>
      <vt:lpstr>Wingdings 2</vt:lpstr>
      <vt:lpstr>通常のテンプレート</vt:lpstr>
      <vt:lpstr>22_Office Theme</vt:lpstr>
      <vt:lpstr>7_Office Theme</vt:lpstr>
      <vt:lpstr>9_Office Theme</vt:lpstr>
      <vt:lpstr>10_Office Theme</vt:lpstr>
      <vt:lpstr>13_Office Theme</vt:lpstr>
      <vt:lpstr>19_Office Theme</vt:lpstr>
      <vt:lpstr>18_Office Theme</vt:lpstr>
      <vt:lpstr>16_Office Theme</vt:lpstr>
      <vt:lpstr>3_Office Theme</vt:lpstr>
      <vt:lpstr>6126-01-tuckmans-team-development-model-powerpoint</vt:lpstr>
      <vt:lpstr>Office Theme</vt:lpstr>
      <vt:lpstr>1_Office Theme</vt:lpstr>
      <vt:lpstr>2_Office Theme</vt:lpstr>
      <vt:lpstr>4_Office Theme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Office</vt:lpstr>
      <vt:lpstr>Financial services</vt:lpstr>
      <vt:lpstr>Manufacturing / Retail</vt:lpstr>
      <vt:lpstr>Life science / healthcare</vt:lpstr>
      <vt:lpstr>Real estate</vt:lpstr>
      <vt:lpstr>Public Sector</vt:lpstr>
      <vt:lpstr>Technology, media and telecommunications</vt:lpstr>
      <vt:lpstr>Technology, media and telecommunications</vt:lpstr>
      <vt:lpstr>Transportation / Journey</vt:lpstr>
      <vt:lpstr>Energy / Environment</vt:lpstr>
      <vt:lpstr>Education / Talent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シェブロン</vt:lpstr>
      <vt:lpstr>主旨 – 4行 x 1列 </vt:lpstr>
      <vt:lpstr>要点 – 5行 x 2列 </vt:lpstr>
      <vt:lpstr> レジュメ （2X）</vt:lpstr>
      <vt:lpstr>テキストブロック – 3パレット</vt:lpstr>
      <vt:lpstr>テキストブロック – 4パレット</vt:lpstr>
      <vt:lpstr>ロジックツリー – 2階層</vt:lpstr>
      <vt:lpstr>PowerPoint プレゼンテーション</vt:lpstr>
      <vt:lpstr>ロジックツリー – 縦型</vt:lpstr>
      <vt:lpstr>積み上げ縦棒グラフ – 3系列</vt:lpstr>
      <vt:lpstr>集合縦棒グラフ – 3系列</vt:lpstr>
      <vt:lpstr>100%積み上げ面グラフ </vt:lpstr>
      <vt:lpstr>ウォーターフォールチャート – 要素の間隔有り</vt:lpstr>
      <vt:lpstr>その他のグラフ – バブルチャート1</vt:lpstr>
      <vt:lpstr>円 – 循環（要素塗り分け）</vt:lpstr>
      <vt:lpstr>円 – 循環</vt:lpstr>
      <vt:lpstr>球体 – 各種サイズ </vt:lpstr>
      <vt:lpstr>三角形 – ピラミッド</vt:lpstr>
      <vt:lpstr>パズル – 正方形</vt:lpstr>
      <vt:lpstr>パズル – 長方形</vt:lpstr>
      <vt:lpstr>地図 – 世界地図1</vt:lpstr>
      <vt:lpstr>地図 – 世界地図2</vt:lpstr>
      <vt:lpstr>地図 – ヨーロッパ、中東、アフリカ</vt:lpstr>
      <vt:lpstr>地図 – ヨーロッパ、アジア、北アフリカ</vt:lpstr>
      <vt:lpstr>地図 – NIS（旧ソ連新独立国家）を含むヨーロッパ</vt:lpstr>
      <vt:lpstr>地図 – アジア・オセアニア1</vt:lpstr>
      <vt:lpstr>PowerPoint プレゼンテーション</vt:lpstr>
      <vt:lpstr>Editable Vietnam Map For PowerPoint</vt:lpstr>
      <vt:lpstr>Editable Vietnam Map For PowerPoint</vt:lpstr>
      <vt:lpstr>地図 – 日本2</vt:lpstr>
      <vt:lpstr>地図 – 日本3</vt:lpstr>
      <vt:lpstr>地図 – 日本4</vt:lpstr>
      <vt:lpstr>拡大／拡張2</vt:lpstr>
      <vt:lpstr>パラレル</vt:lpstr>
      <vt:lpstr>Year Long Timeline PowerPoint Template</vt:lpstr>
      <vt:lpstr>Advantages vs Disadvantages Slides</vt:lpstr>
      <vt:lpstr>Advantages vs Disadvantages Slides</vt:lpstr>
      <vt:lpstr>Target SMART Goals Slide Template</vt:lpstr>
      <vt:lpstr>Coast Avoidance Iceberg</vt:lpstr>
      <vt:lpstr>3 Level Glossy Funnel Diagram Design</vt:lpstr>
      <vt:lpstr>Levers PowerPoint Template</vt:lpstr>
      <vt:lpstr>3-YEAR Strategic Plan PowerPoint Template</vt:lpstr>
      <vt:lpstr>Iceberg Diagram Slide Template for PowerPoint</vt:lpstr>
      <vt:lpstr>4-Column Diagram Template for PowerPoint</vt:lpstr>
      <vt:lpstr>Strategic Initiative PowerPoint Template</vt:lpstr>
      <vt:lpstr>Pricing Options Professional PowerPoint Table Format</vt:lpstr>
      <vt:lpstr>3D Layered Diagram - 3 Layers</vt:lpstr>
      <vt:lpstr>Textboxes Arrows for PowerPoint</vt:lpstr>
      <vt:lpstr>Weight of Ideas Slide Template</vt:lpstr>
      <vt:lpstr>Mission and Vision PowerPoint Template</vt:lpstr>
      <vt:lpstr>Spherical 4 Stages PowerPoint Diagram</vt:lpstr>
      <vt:lpstr>Seed Germination Growth PowerPoint Template</vt:lpstr>
      <vt:lpstr>Rating Star Shapes for PowerPoint</vt:lpstr>
      <vt:lpstr>3 Level Semi Transparent Funnel Diagram for PowerPoint</vt:lpstr>
      <vt:lpstr>2 Levels - Segmented Pyramid</vt:lpstr>
      <vt:lpstr>3 Level Pyramid Diagram Concept for PowerPoint</vt:lpstr>
      <vt:lpstr>TAM SAM SOM PowerPoint Template</vt:lpstr>
      <vt:lpstr>3-Item Cards Infographic PowerPoint Template</vt:lpstr>
      <vt:lpstr>3D Coordinate Axis Cube PowerPoint Template</vt:lpstr>
      <vt:lpstr>Simple Affinity Diagram PowerPoint Template</vt:lpstr>
      <vt:lpstr>PowerPoint プレゼンテーション</vt:lpstr>
      <vt:lpstr>Office</vt:lpstr>
      <vt:lpstr>Financial services</vt:lpstr>
      <vt:lpstr>Manufacturing / Retail</vt:lpstr>
      <vt:lpstr>Life science / healthcare</vt:lpstr>
      <vt:lpstr>Real estate</vt:lpstr>
      <vt:lpstr>Public Sector</vt:lpstr>
      <vt:lpstr>Technology, media and telecommunications</vt:lpstr>
      <vt:lpstr>Technology, media and telecommunications</vt:lpstr>
      <vt:lpstr>Transportation / Journey</vt:lpstr>
      <vt:lpstr>Energy / Environment</vt:lpstr>
      <vt:lpstr>Education / Talent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/>
  <cp:lastModifiedBy/>
  <cp:revision>26</cp:revision>
  <dcterms:created xsi:type="dcterms:W3CDTF">2017-06-21T13:39:52Z</dcterms:created>
  <dcterms:modified xsi:type="dcterms:W3CDTF">2026-07-30T00:27:38Z</dcterms:modified>
  <cp:category/>
</cp:coreProperties>
</file>